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32688"/>
            <a:ext cx="502920" cy="25603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4241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300">
                <a:solidFill>
                  <a:srgbClr val="E09F3E"/>
                </a:solidFill>
                <a:latin typeface="PingFang SC"/>
                <a:ea typeface="PingFang SC"/>
                <a:cs typeface="PingFang SC"/>
              </a:rPr>
              <a:t>内部 · 战略汇报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把结论放在第一页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CEFE8"/>
                </a:solidFill>
                <a:latin typeface="PingFang SC"/>
                <a:ea typeface="PingFang SC"/>
                <a:cs typeface="PingFang SC"/>
              </a:rPr>
              <a:t>副标题：结论先行 · 一页一判断 · 原生图形画图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742432"/>
            <a:ext cx="1417320" cy="68580"/>
          </a:xfrm>
          <a:prstGeom prst="rect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9070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CEFE8"/>
                </a:solidFill>
                <a:latin typeface="PingFang SC"/>
                <a:ea typeface="PingFang SC"/>
                <a:cs typeface="PingFang SC"/>
              </a:rPr>
              <a:t>主色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5742432"/>
            <a:ext cx="1417320" cy="6858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59070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CEFE8"/>
                </a:solidFill>
                <a:latin typeface="PingFang SC"/>
                <a:ea typeface="PingFang SC"/>
                <a:cs typeface="PingFang SC"/>
              </a:rPr>
              <a:t>辅助色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5742432"/>
            <a:ext cx="1417320" cy="68580"/>
          </a:xfrm>
          <a:prstGeom prst="rect">
            <a:avLst/>
          </a:prstGeom>
          <a:solidFill>
            <a:srgbClr val="8A8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59070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CEFE8"/>
                </a:solidFill>
                <a:latin typeface="PingFang SC"/>
                <a:ea typeface="PingFang SC"/>
                <a:cs typeface="PingFang SC"/>
              </a:rPr>
              <a:t>中性色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0">
                <a:solidFill>
                  <a:srgbClr val="8A8580"/>
                </a:solidFill>
                <a:latin typeface="PingFang SC"/>
                <a:ea typeface="PingFang SC"/>
                <a:cs typeface="PingFang SC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98142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6E49"/>
                </a:solidFill>
                <a:latin typeface="PingFang SC"/>
                <a:ea typeface="PingFang SC"/>
                <a:cs typeface="PingFang SC"/>
              </a:rPr>
              <a:t>三张卡讲清一件事：结构与本项目设计系统一致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25296"/>
            <a:ext cx="10911535" cy="0"/>
          </a:xfrm>
          <a:prstGeom prst="line">
            <a:avLst/>
          </a:prstGeom>
          <a:ln w="9525">
            <a:solidFill>
              <a:srgbClr val="E09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54335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58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044184"/>
            <a:ext cx="41148" cy="237744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6016752"/>
            <a:ext cx="10545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先定设计系统，</a:t>
            </a:r>
            <a:r>
              <a:rPr sz="1150" b="1" i="0">
                <a:solidFill>
                  <a:srgbClr val="E09F3E"/>
                </a:solidFill>
                <a:latin typeface="PingFang SC"/>
                <a:ea typeface="PingFang SC"/>
                <a:cs typeface="PingFang SC"/>
              </a:rPr>
              <a:t>再写版面</a:t>
            </a:r>
            <a:r>
              <a:rPr sz="115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56616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E49"/>
                </a:solidFill>
                <a:latin typeface="PingFang SC"/>
                <a:ea typeface="PingFang SC"/>
                <a:cs typeface="PingFang SC"/>
              </a:rPr>
              <a:t>第一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384048" cy="25603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色板常量定义在项目脚本头部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554480"/>
            <a:ext cx="356616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828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E49"/>
                </a:solidFill>
                <a:latin typeface="PingFang SC"/>
                <a:ea typeface="PingFang SC"/>
                <a:cs typeface="PingFang SC"/>
              </a:rPr>
              <a:t>第二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0016" y="2286000"/>
            <a:ext cx="384048" cy="25603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4871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骨架函数 page() 由项目自建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554480"/>
            <a:ext cx="356616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828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E49"/>
                </a:solidFill>
                <a:latin typeface="PingFang SC"/>
                <a:ea typeface="PingFang SC"/>
                <a:cs typeface="PingFang SC"/>
              </a:rPr>
              <a:t>第三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5632" y="2286000"/>
            <a:ext cx="384048" cy="25603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kit 只提供中性技术工具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0">
                <a:solidFill>
                  <a:srgbClr val="8A8580"/>
                </a:solidFill>
                <a:latin typeface="PingFang SC"/>
                <a:ea typeface="PingFang SC"/>
                <a:cs typeface="PingFang SC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98142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6E49"/>
                </a:solidFill>
                <a:latin typeface="PingFang SC"/>
                <a:ea typeface="PingFang SC"/>
                <a:cs typeface="PingFang SC"/>
              </a:rPr>
              <a:t>流程图用原生形状：可编辑、可配色、可缩放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25296"/>
            <a:ext cx="10911535" cy="0"/>
          </a:xfrm>
          <a:prstGeom prst="line">
            <a:avLst/>
          </a:prstGeom>
          <a:ln w="9525">
            <a:solidFill>
              <a:srgbClr val="E09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54335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58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7432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1. 采集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74720" y="2286000"/>
            <a:ext cx="548640" cy="365760"/>
          </a:xfrm>
          <a:prstGeom prst="rightArrow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23360" y="2011680"/>
            <a:ext cx="27432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2. 分析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58000" y="2286000"/>
            <a:ext cx="548640" cy="365760"/>
          </a:xfrm>
          <a:prstGeom prst="rightArrow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2743200" cy="914400"/>
          </a:xfrm>
          <a:prstGeom prst="roundRect">
            <a:avLst>
              <a:gd name="adj" fmla="val 5500"/>
            </a:avLst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3. 结论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011680" y="3200400"/>
            <a:ext cx="7223760" cy="0"/>
          </a:xfrm>
          <a:prstGeom prst="line">
            <a:avLst/>
          </a:prstGeom>
          <a:ln w="12700">
            <a:solidFill>
              <a:srgbClr val="8A85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3101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580"/>
                </a:solidFill>
                <a:latin typeface="PingFang SC"/>
                <a:ea typeface="PingFang SC"/>
                <a:cs typeface="PingFang SC"/>
              </a:rPr>
              <a:t>虚线表示回流：结论反哺下一轮采集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